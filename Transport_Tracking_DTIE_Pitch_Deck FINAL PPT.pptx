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56" r:id="rId3"/>
    <p:sldId id="257" r:id="rId4"/>
    <p:sldId id="272" r:id="rId5"/>
    <p:sldId id="258" r:id="rId6"/>
    <p:sldId id="259" r:id="rId7"/>
    <p:sldId id="260" r:id="rId8"/>
    <p:sldId id="261" r:id="rId9"/>
    <p:sldId id="262" r:id="rId10"/>
    <p:sldId id="267" r:id="rId11"/>
    <p:sldId id="263" r:id="rId12"/>
    <p:sldId id="264" r:id="rId13"/>
    <p:sldId id="270" r:id="rId14"/>
    <p:sldId id="265" r:id="rId15"/>
    <p:sldId id="266" r:id="rId16"/>
    <p:sldId id="268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16B5-ECA1-1B46-B838-6E1D4285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544D4-5F1E-2079-46C6-B94A9FEEA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D11A4-DA4D-C73F-3157-FC2283520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2192000" cy="702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2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2175737"/>
            <a:ext cx="108966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600" b="1" dirty="0"/>
              <a:t>Real-Time Public Transport Tracking for Small Cities</a:t>
            </a:r>
          </a:p>
        </p:txBody>
      </p:sp>
      <p:sp>
        <p:nvSpPr>
          <p:cNvPr id="101" name="Cover text 101"/>
          <p:cNvSpPr txBox="1"/>
          <p:nvPr/>
        </p:nvSpPr>
        <p:spPr>
          <a:xfrm>
            <a:off x="914400" y="2971800"/>
            <a:ext cx="10360152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0" i="1" dirty="0">
                <a:solidFill>
                  <a:srgbClr val="595959"/>
                </a:solidFill>
                <a:latin typeface="Calibri"/>
                <a:cs typeface="Calibri"/>
              </a:rPr>
              <a:t>Bringing transit visibility to cities that need an affordable solution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i="1" dirty="0">
                <a:solidFill>
                  <a:srgbClr val="595959"/>
                </a:solidFill>
                <a:latin typeface="Calibri"/>
                <a:cs typeface="Calibri"/>
              </a:rPr>
              <a:t>Section : 13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1" i="1" dirty="0">
                <a:solidFill>
                  <a:srgbClr val="595959"/>
                </a:solidFill>
                <a:latin typeface="Calibri"/>
                <a:cs typeface="Calibri"/>
              </a:rPr>
              <a:t>Project : Group -2</a:t>
            </a:r>
            <a:endParaRPr lang="en-US" sz="2000" b="1" i="0" dirty="0">
              <a:solidFill>
                <a:srgbClr val="2E7D32"/>
              </a:solidFill>
              <a:latin typeface="Calibri"/>
              <a:cs typeface="Calibri"/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dirty="0">
              <a:solidFill>
                <a:srgbClr val="59595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Team</a:t>
            </a:r>
            <a:r>
              <a:rPr spc="-105" dirty="0"/>
              <a:t> </a:t>
            </a:r>
            <a:r>
              <a:rPr spc="-70" dirty="0"/>
              <a:t>Members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08" name="Member card 108"/>
          <p:cNvSpPr/>
          <p:nvPr/>
        </p:nvSpPr>
        <p:spPr>
          <a:xfrm>
            <a:off x="914400" y="1645920"/>
            <a:ext cx="3270504" cy="13716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09" name="Initials 109"/>
          <p:cNvSpPr/>
          <p:nvPr/>
        </p:nvSpPr>
        <p:spPr>
          <a:xfrm>
            <a:off x="1143000" y="196596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KH</a:t>
            </a:r>
          </a:p>
        </p:txBody>
      </p:sp>
      <p:sp>
        <p:nvSpPr>
          <p:cNvPr id="110" name="Member text 110"/>
          <p:cNvSpPr txBox="1"/>
          <p:nvPr/>
        </p:nvSpPr>
        <p:spPr>
          <a:xfrm>
            <a:off x="2103120" y="1920240"/>
            <a:ext cx="199034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K. V. Harshini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2620030195</a:t>
            </a:r>
          </a:p>
        </p:txBody>
      </p:sp>
      <p:sp>
        <p:nvSpPr>
          <p:cNvPr id="111" name="Member card 111"/>
          <p:cNvSpPr/>
          <p:nvPr/>
        </p:nvSpPr>
        <p:spPr>
          <a:xfrm>
            <a:off x="4459224" y="1645920"/>
            <a:ext cx="3270504" cy="13716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12" name="Initials 112"/>
          <p:cNvSpPr/>
          <p:nvPr/>
        </p:nvSpPr>
        <p:spPr>
          <a:xfrm>
            <a:off x="4687824" y="196596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NK</a:t>
            </a:r>
          </a:p>
        </p:txBody>
      </p:sp>
      <p:sp>
        <p:nvSpPr>
          <p:cNvPr id="113" name="Member text 113"/>
          <p:cNvSpPr txBox="1"/>
          <p:nvPr/>
        </p:nvSpPr>
        <p:spPr>
          <a:xfrm>
            <a:off x="5647944" y="1920240"/>
            <a:ext cx="199034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N. Keerthi Chowdary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2620030196</a:t>
            </a:r>
          </a:p>
        </p:txBody>
      </p:sp>
      <p:sp>
        <p:nvSpPr>
          <p:cNvPr id="114" name="Member card 114"/>
          <p:cNvSpPr/>
          <p:nvPr/>
        </p:nvSpPr>
        <p:spPr>
          <a:xfrm>
            <a:off x="8004048" y="1645920"/>
            <a:ext cx="3270504" cy="13716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15" name="Initials 115"/>
          <p:cNvSpPr/>
          <p:nvPr/>
        </p:nvSpPr>
        <p:spPr>
          <a:xfrm>
            <a:off x="8232648" y="196596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KA</a:t>
            </a:r>
          </a:p>
        </p:txBody>
      </p:sp>
      <p:sp>
        <p:nvSpPr>
          <p:cNvPr id="116" name="Member text 116"/>
          <p:cNvSpPr txBox="1"/>
          <p:nvPr/>
        </p:nvSpPr>
        <p:spPr>
          <a:xfrm>
            <a:off x="9192768" y="1920240"/>
            <a:ext cx="199034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K. Anudeep Rao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2620030283</a:t>
            </a:r>
          </a:p>
        </p:txBody>
      </p:sp>
      <p:sp>
        <p:nvSpPr>
          <p:cNvPr id="117" name="Member card 117"/>
          <p:cNvSpPr/>
          <p:nvPr/>
        </p:nvSpPr>
        <p:spPr>
          <a:xfrm>
            <a:off x="914400" y="3200400"/>
            <a:ext cx="3270504" cy="13716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18" name="Initials 118"/>
          <p:cNvSpPr/>
          <p:nvPr/>
        </p:nvSpPr>
        <p:spPr>
          <a:xfrm>
            <a:off x="1143000" y="35204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VR</a:t>
            </a:r>
          </a:p>
        </p:txBody>
      </p:sp>
      <p:sp>
        <p:nvSpPr>
          <p:cNvPr id="119" name="Member text 119"/>
          <p:cNvSpPr txBox="1"/>
          <p:nvPr/>
        </p:nvSpPr>
        <p:spPr>
          <a:xfrm>
            <a:off x="2103120" y="3474720"/>
            <a:ext cx="199034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V. Radhakrishna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2620030317</a:t>
            </a:r>
          </a:p>
        </p:txBody>
      </p:sp>
      <p:sp>
        <p:nvSpPr>
          <p:cNvPr id="120" name="Member card 120"/>
          <p:cNvSpPr/>
          <p:nvPr/>
        </p:nvSpPr>
        <p:spPr>
          <a:xfrm>
            <a:off x="4459224" y="3200400"/>
            <a:ext cx="3270504" cy="13716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21" name="Initials 121"/>
          <p:cNvSpPr/>
          <p:nvPr/>
        </p:nvSpPr>
        <p:spPr>
          <a:xfrm>
            <a:off x="4687824" y="35204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EY</a:t>
            </a:r>
          </a:p>
        </p:txBody>
      </p:sp>
      <p:sp>
        <p:nvSpPr>
          <p:cNvPr id="122" name="Member text 122"/>
          <p:cNvSpPr txBox="1"/>
          <p:nvPr/>
        </p:nvSpPr>
        <p:spPr>
          <a:xfrm>
            <a:off x="5647944" y="3474720"/>
            <a:ext cx="199034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E. Yaswanth Chowdary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2620030377</a:t>
            </a:r>
          </a:p>
        </p:txBody>
      </p:sp>
      <p:sp>
        <p:nvSpPr>
          <p:cNvPr id="123" name="Member card 123"/>
          <p:cNvSpPr/>
          <p:nvPr/>
        </p:nvSpPr>
        <p:spPr>
          <a:xfrm>
            <a:off x="8004048" y="3200400"/>
            <a:ext cx="3270504" cy="13716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24" name="Initials 124"/>
          <p:cNvSpPr/>
          <p:nvPr/>
        </p:nvSpPr>
        <p:spPr>
          <a:xfrm>
            <a:off x="8232648" y="352044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</a:p>
        </p:txBody>
      </p:sp>
      <p:sp>
        <p:nvSpPr>
          <p:cNvPr id="125" name="Member text 125"/>
          <p:cNvSpPr txBox="1"/>
          <p:nvPr/>
        </p:nvSpPr>
        <p:spPr>
          <a:xfrm>
            <a:off x="9192768" y="3474720"/>
            <a:ext cx="199034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V. Sri Bhavana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2620080038</a:t>
            </a:r>
          </a:p>
        </p:txBody>
      </p:sp>
      <p:sp>
        <p:nvSpPr>
          <p:cNvPr id="126" name="Guide banner 126"/>
          <p:cNvSpPr/>
          <p:nvPr/>
        </p:nvSpPr>
        <p:spPr>
          <a:xfrm>
            <a:off x="914400" y="4846320"/>
            <a:ext cx="10360152" cy="100584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Under the guidance of Dr. G. Sudhakar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2F2F2"/>
                </a:solidFill>
                <a:latin typeface="Calibri"/>
                <a:cs typeface="Calibri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us Depot in Hyderabad near me - Justdial">
            <a:extLst>
              <a:ext uri="{FF2B5EF4-FFF2-40B4-BE49-F238E27FC236}">
                <a16:creationId xmlns:a16="http://schemas.microsoft.com/office/drawing/2014/main" id="{72A0C06F-BF5A-2465-58EC-F27FF467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0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Vision</a:t>
            </a:r>
            <a:r>
              <a:rPr spc="-180" dirty="0"/>
              <a:t> </a:t>
            </a:r>
            <a:r>
              <a:rPr spc="-25" dirty="0"/>
              <a:t>and</a:t>
            </a:r>
            <a:r>
              <a:rPr spc="-185" dirty="0"/>
              <a:t> </a:t>
            </a:r>
            <a:r>
              <a:rPr spc="-40" dirty="0"/>
              <a:t>Mission</a:t>
            </a: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507D7311-7F05-D1BA-0F8C-EDE064B2C6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27" name="Vision card 127"/>
          <p:cNvSpPr/>
          <p:nvPr/>
        </p:nvSpPr>
        <p:spPr>
          <a:xfrm>
            <a:off x="914400" y="1600200"/>
            <a:ext cx="4937760" cy="4297680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</p:spPr>
        <p:txBody>
          <a:bodyPr wrap="square" lIns="365760" tIns="274320" rIns="365760" bIns="2743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b="1" i="0" dirty="0">
                <a:solidFill>
                  <a:srgbClr val="F8D7D7"/>
                </a:solidFill>
                <a:latin typeface="Calibri"/>
                <a:cs typeface="Calibri"/>
              </a:rPr>
              <a:t>VISION</a:t>
            </a:r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Every bus in every small city, visible to the people who depend on it.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dirty="0">
                <a:solidFill>
                  <a:srgbClr val="F8D7D7"/>
                </a:solidFill>
                <a:latin typeface="Calibri"/>
                <a:cs typeface="Calibri"/>
              </a:rPr>
              <a:t>Simple. Affordable. Dependable.</a:t>
            </a:r>
          </a:p>
        </p:txBody>
      </p:sp>
      <p:sp>
        <p:nvSpPr>
          <p:cNvPr id="128" name="Mission card 128"/>
          <p:cNvSpPr/>
          <p:nvPr/>
        </p:nvSpPr>
        <p:spPr>
          <a:xfrm>
            <a:off x="6126480" y="1600200"/>
            <a:ext cx="5148072" cy="42976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29" name="Mission label 129"/>
          <p:cNvSpPr txBox="1"/>
          <p:nvPr/>
        </p:nvSpPr>
        <p:spPr>
          <a:xfrm>
            <a:off x="6446520" y="1828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MISSION</a:t>
            </a:r>
          </a:p>
        </p:txBody>
      </p:sp>
      <p:sp>
        <p:nvSpPr>
          <p:cNvPr id="130" name="Mission number 130"/>
          <p:cNvSpPr/>
          <p:nvPr/>
        </p:nvSpPr>
        <p:spPr>
          <a:xfrm>
            <a:off x="6446520" y="235915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31" name="Mission item 131"/>
          <p:cNvSpPr txBox="1"/>
          <p:nvPr/>
        </p:nvSpPr>
        <p:spPr>
          <a:xfrm>
            <a:off x="7086600" y="2286000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Build a low-cost tracker from a driver smartphone or a simple GPS device</a:t>
            </a:r>
          </a:p>
        </p:txBody>
      </p:sp>
      <p:sp>
        <p:nvSpPr>
          <p:cNvPr id="132" name="Mission number 132"/>
          <p:cNvSpPr/>
          <p:nvPr/>
        </p:nvSpPr>
        <p:spPr>
          <a:xfrm>
            <a:off x="6446520" y="327355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3" name="Mission item 133"/>
          <p:cNvSpPr txBox="1"/>
          <p:nvPr/>
        </p:nvSpPr>
        <p:spPr>
          <a:xfrm>
            <a:off x="7086600" y="3200400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Give passengers a live map and a useful arrival estimate</a:t>
            </a:r>
          </a:p>
        </p:txBody>
      </p:sp>
      <p:sp>
        <p:nvSpPr>
          <p:cNvPr id="134" name="Mission number 134"/>
          <p:cNvSpPr/>
          <p:nvPr/>
        </p:nvSpPr>
        <p:spPr>
          <a:xfrm>
            <a:off x="6446520" y="418795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5" name="Mission item 135"/>
          <p:cNvSpPr txBox="1"/>
          <p:nvPr/>
        </p:nvSpPr>
        <p:spPr>
          <a:xfrm>
            <a:off x="7086600" y="4114800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Give operators a clear view of active buses and delays</a:t>
            </a:r>
          </a:p>
        </p:txBody>
      </p:sp>
      <p:sp>
        <p:nvSpPr>
          <p:cNvPr id="136" name="Mission number 136"/>
          <p:cNvSpPr/>
          <p:nvPr/>
        </p:nvSpPr>
        <p:spPr>
          <a:xfrm>
            <a:off x="6446520" y="510235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37" name="Mission item 137"/>
          <p:cNvSpPr txBox="1"/>
          <p:nvPr/>
        </p:nvSpPr>
        <p:spPr>
          <a:xfrm>
            <a:off x="7086600" y="5029200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Publish open, reusable data (GTFS-Realtime) for the wider ecosystem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Problem</a:t>
            </a:r>
            <a:r>
              <a:rPr spc="-130" dirty="0"/>
              <a:t> </a:t>
            </a:r>
            <a:r>
              <a:rPr spc="-70" dirty="0"/>
              <a:t>Statement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BFD64D8-5CBA-1604-7781-344782C3E5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80" dirty="0"/>
              <a:t>DTIE   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lang="en-IN" spc="-130" dirty="0"/>
              <a:t>      </a:t>
            </a:r>
            <a:r>
              <a:rPr spc="-110" dirty="0"/>
              <a:t>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38" name="Problem card 138"/>
          <p:cNvSpPr/>
          <p:nvPr/>
        </p:nvSpPr>
        <p:spPr>
          <a:xfrm>
            <a:off x="914400" y="1600200"/>
            <a:ext cx="3270504" cy="23317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39" name="Problem number 139"/>
          <p:cNvSpPr/>
          <p:nvPr/>
        </p:nvSpPr>
        <p:spPr>
          <a:xfrm>
            <a:off x="1143000" y="181051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40" name="Problem text 140"/>
          <p:cNvSpPr txBox="1"/>
          <p:nvPr/>
        </p:nvSpPr>
        <p:spPr>
          <a:xfrm>
            <a:off x="1143000" y="2514600"/>
            <a:ext cx="2813304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No live location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95959"/>
                </a:solidFill>
                <a:latin typeface="Calibri"/>
                <a:cs typeface="Calibri"/>
              </a:rPr>
              <a:t>Passengers cannot easily know where their bus is or when it will arrive.</a:t>
            </a:r>
          </a:p>
        </p:txBody>
      </p:sp>
      <p:sp>
        <p:nvSpPr>
          <p:cNvPr id="141" name="Problem card 141"/>
          <p:cNvSpPr/>
          <p:nvPr/>
        </p:nvSpPr>
        <p:spPr>
          <a:xfrm>
            <a:off x="4459224" y="1600200"/>
            <a:ext cx="3270504" cy="23317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42" name="Problem number 142"/>
          <p:cNvSpPr/>
          <p:nvPr/>
        </p:nvSpPr>
        <p:spPr>
          <a:xfrm>
            <a:off x="4687824" y="181051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3" name="Problem text 143"/>
          <p:cNvSpPr txBox="1"/>
          <p:nvPr/>
        </p:nvSpPr>
        <p:spPr>
          <a:xfrm>
            <a:off x="4687824" y="2514600"/>
            <a:ext cx="2813304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Uncertain journeys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95959"/>
                </a:solidFill>
                <a:latin typeface="Calibri"/>
                <a:cs typeface="Calibri"/>
              </a:rPr>
              <a:t>People leave early to avoid missing buses and may wait unnecessarily.</a:t>
            </a:r>
          </a:p>
        </p:txBody>
      </p:sp>
      <p:sp>
        <p:nvSpPr>
          <p:cNvPr id="144" name="Problem card 144"/>
          <p:cNvSpPr/>
          <p:nvPr/>
        </p:nvSpPr>
        <p:spPr>
          <a:xfrm>
            <a:off x="8004048" y="1600200"/>
            <a:ext cx="3270504" cy="23317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45" name="Problem number 145"/>
          <p:cNvSpPr/>
          <p:nvPr/>
        </p:nvSpPr>
        <p:spPr>
          <a:xfrm>
            <a:off x="8232648" y="181051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46" name="Problem text 146"/>
          <p:cNvSpPr txBox="1"/>
          <p:nvPr/>
        </p:nvSpPr>
        <p:spPr>
          <a:xfrm>
            <a:off x="8232648" y="2514600"/>
            <a:ext cx="2813304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Limited fleet visibility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95959"/>
                </a:solidFill>
                <a:latin typeface="Calibri"/>
                <a:cs typeface="Calibri"/>
              </a:rPr>
              <a:t>Operators have little real-time information about delays and vehicle status.</a:t>
            </a:r>
          </a:p>
        </p:txBody>
      </p:sp>
      <p:sp>
        <p:nvSpPr>
          <p:cNvPr id="147" name="Problem statement 147"/>
          <p:cNvSpPr/>
          <p:nvPr/>
        </p:nvSpPr>
        <p:spPr>
          <a:xfrm>
            <a:off x="914400" y="4160520"/>
            <a:ext cx="10360152" cy="1783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320040" tIns="91440" rIns="32004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FF9E9E"/>
                </a:solidFill>
                <a:latin typeface="Calibri"/>
                <a:cs typeface="Calibri"/>
              </a:rPr>
              <a:t>CORE PROBLEM STATEMENT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Design a low-cost tracking system that shows live bus positions and useful arrival estimates without expensive per-vehicle licences or complex infrastructure.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dirty="0">
                <a:solidFill>
                  <a:srgbClr val="D9D9D9"/>
                </a:solidFill>
                <a:latin typeface="Calibri"/>
                <a:cs typeface="Calibri"/>
              </a:rPr>
              <a:t>How might we help passengers in small cities see bus locations and estimate arrivals using affordable technology?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Research</a:t>
            </a:r>
            <a:r>
              <a:rPr spc="-170" dirty="0"/>
              <a:t> </a:t>
            </a:r>
            <a:r>
              <a:rPr dirty="0"/>
              <a:t>/</a:t>
            </a:r>
            <a:r>
              <a:rPr spc="-120" dirty="0"/>
              <a:t> </a:t>
            </a:r>
            <a:r>
              <a:rPr spc="-55" dirty="0"/>
              <a:t>Facts</a:t>
            </a:r>
            <a:r>
              <a:rPr spc="-155" dirty="0"/>
              <a:t> </a:t>
            </a:r>
            <a:r>
              <a:rPr dirty="0"/>
              <a:t>/</a:t>
            </a:r>
            <a:r>
              <a:rPr spc="-110" dirty="0"/>
              <a:t> </a:t>
            </a:r>
            <a:r>
              <a:rPr spc="-95" dirty="0"/>
              <a:t>Market</a:t>
            </a:r>
            <a:r>
              <a:rPr spc="-145" dirty="0"/>
              <a:t> </a:t>
            </a:r>
            <a:r>
              <a:rPr dirty="0"/>
              <a:t>&amp;</a:t>
            </a:r>
            <a:r>
              <a:rPr spc="-145" dirty="0"/>
              <a:t> </a:t>
            </a:r>
            <a:r>
              <a:rPr spc="-70" dirty="0"/>
              <a:t>Industry</a:t>
            </a:r>
            <a:r>
              <a:rPr spc="-165" dirty="0"/>
              <a:t> </a:t>
            </a:r>
            <a:r>
              <a:rPr spc="-10" dirty="0"/>
              <a:t>Study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3C74381-BE4E-DEC6-D1B5-C788904343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48" name="Gap card 148"/>
          <p:cNvSpPr/>
          <p:nvPr/>
        </p:nvSpPr>
        <p:spPr>
          <a:xfrm>
            <a:off x="914400" y="2103120"/>
            <a:ext cx="5029200" cy="3794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49" name="Gap label 149"/>
          <p:cNvSpPr txBox="1"/>
          <p:nvPr/>
        </p:nvSpPr>
        <p:spPr>
          <a:xfrm>
            <a:off x="1188720" y="2286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MARKET &amp; INDUSTRY GAP</a:t>
            </a:r>
          </a:p>
        </p:txBody>
      </p:sp>
      <p:sp>
        <p:nvSpPr>
          <p:cNvPr id="150" name="Gap bullets 150"/>
          <p:cNvSpPr txBox="1"/>
          <p:nvPr/>
        </p:nvSpPr>
        <p:spPr>
          <a:xfrm>
            <a:off x="1188720" y="2697480"/>
            <a:ext cx="448056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Small cities often run bus services with no live location for passengers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Full intelligent transport systems need costly infrastructure and sensors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Operators rarely have dedicated IT staff to run complex systems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Passengers may have limited mobile data, so the app must stay light</a:t>
            </a:r>
          </a:p>
        </p:txBody>
      </p:sp>
      <p:sp>
        <p:nvSpPr>
          <p:cNvPr id="151" name="Tech label 151"/>
          <p:cNvSpPr txBox="1"/>
          <p:nvPr/>
        </p:nvSpPr>
        <p:spPr>
          <a:xfrm>
            <a:off x="6217920" y="2103120"/>
            <a:ext cx="505663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ENABLING TECHNOLOGY (OPEN &amp; LOW-COST)</a:t>
            </a:r>
          </a:p>
        </p:txBody>
      </p:sp>
      <p:sp>
        <p:nvSpPr>
          <p:cNvPr id="152" name="Tech chip 152"/>
          <p:cNvSpPr/>
          <p:nvPr/>
        </p:nvSpPr>
        <p:spPr>
          <a:xfrm>
            <a:off x="6217920" y="2514600"/>
            <a:ext cx="1783080" cy="713232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GTFS-Realtime</a:t>
            </a:r>
          </a:p>
        </p:txBody>
      </p:sp>
      <p:sp>
        <p:nvSpPr>
          <p:cNvPr id="153" name="Tech description 153"/>
          <p:cNvSpPr txBox="1"/>
          <p:nvPr/>
        </p:nvSpPr>
        <p:spPr>
          <a:xfrm>
            <a:off x="8183880" y="2514600"/>
            <a:ext cx="309067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Open standard for live transit feeds</a:t>
            </a:r>
          </a:p>
        </p:txBody>
      </p:sp>
      <p:sp>
        <p:nvSpPr>
          <p:cNvPr id="154" name="Tech chip 154"/>
          <p:cNvSpPr/>
          <p:nvPr/>
        </p:nvSpPr>
        <p:spPr>
          <a:xfrm>
            <a:off x="6217920" y="3364992"/>
            <a:ext cx="1783080" cy="713232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MQTT</a:t>
            </a:r>
          </a:p>
        </p:txBody>
      </p:sp>
      <p:sp>
        <p:nvSpPr>
          <p:cNvPr id="155" name="Tech description 155"/>
          <p:cNvSpPr txBox="1"/>
          <p:nvPr/>
        </p:nvSpPr>
        <p:spPr>
          <a:xfrm>
            <a:off x="8183880" y="3364992"/>
            <a:ext cx="309067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Lightweight messaging for small GPS packets</a:t>
            </a:r>
          </a:p>
        </p:txBody>
      </p:sp>
      <p:sp>
        <p:nvSpPr>
          <p:cNvPr id="156" name="Tech chip 156"/>
          <p:cNvSpPr/>
          <p:nvPr/>
        </p:nvSpPr>
        <p:spPr>
          <a:xfrm>
            <a:off x="6217920" y="4215384"/>
            <a:ext cx="1783080" cy="713232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PostGIS</a:t>
            </a:r>
          </a:p>
        </p:txBody>
      </p:sp>
      <p:sp>
        <p:nvSpPr>
          <p:cNvPr id="157" name="Tech description 157"/>
          <p:cNvSpPr txBox="1"/>
          <p:nvPr/>
        </p:nvSpPr>
        <p:spPr>
          <a:xfrm>
            <a:off x="8183880" y="4215384"/>
            <a:ext cx="309067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Route matching and distance queries</a:t>
            </a:r>
          </a:p>
        </p:txBody>
      </p:sp>
      <p:sp>
        <p:nvSpPr>
          <p:cNvPr id="158" name="Tech chip 158"/>
          <p:cNvSpPr/>
          <p:nvPr/>
        </p:nvSpPr>
        <p:spPr>
          <a:xfrm>
            <a:off x="6217920" y="5065776"/>
            <a:ext cx="1783080" cy="713232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Leaflet + OSM</a:t>
            </a:r>
          </a:p>
        </p:txBody>
      </p:sp>
      <p:sp>
        <p:nvSpPr>
          <p:cNvPr id="159" name="Tech description 159"/>
          <p:cNvSpPr txBox="1"/>
          <p:nvPr/>
        </p:nvSpPr>
        <p:spPr>
          <a:xfrm>
            <a:off x="8183880" y="5065776"/>
            <a:ext cx="309067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Free, open passenger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Target</a:t>
            </a:r>
            <a:r>
              <a:rPr spc="-120" dirty="0"/>
              <a:t> </a:t>
            </a:r>
            <a:r>
              <a:rPr spc="-20" dirty="0"/>
              <a:t>User</a:t>
            </a:r>
            <a:r>
              <a:rPr spc="-16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50" dirty="0"/>
              <a:t>Customer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D784422-014D-5CEE-BDAB-EBC6EA6814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60" name="User card 160"/>
          <p:cNvSpPr/>
          <p:nvPr/>
        </p:nvSpPr>
        <p:spPr>
          <a:xfrm>
            <a:off x="914400" y="1600200"/>
            <a:ext cx="3270504" cy="3246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61" name="User initial 161"/>
          <p:cNvSpPr/>
          <p:nvPr/>
        </p:nvSpPr>
        <p:spPr>
          <a:xfrm>
            <a:off x="1188720" y="182880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</a:p>
        </p:txBody>
      </p:sp>
      <p:sp>
        <p:nvSpPr>
          <p:cNvPr id="162" name="User title 162"/>
          <p:cNvSpPr txBox="1"/>
          <p:nvPr/>
        </p:nvSpPr>
        <p:spPr>
          <a:xfrm>
            <a:off x="2103120" y="1828800"/>
            <a:ext cx="189890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262626"/>
                </a:solidFill>
                <a:latin typeface="Calibri"/>
                <a:cs typeface="Calibri"/>
              </a:rPr>
              <a:t>Passengers</a:t>
            </a:r>
          </a:p>
        </p:txBody>
      </p:sp>
      <p:sp>
        <p:nvSpPr>
          <p:cNvPr id="163" name="User needs 163"/>
          <p:cNvSpPr txBox="1"/>
          <p:nvPr/>
        </p:nvSpPr>
        <p:spPr>
          <a:xfrm>
            <a:off x="1188720" y="2834640"/>
            <a:ext cx="2721864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Want to know where the bus is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Need an estimated arrival time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May have limited mobile data</a:t>
            </a:r>
          </a:p>
        </p:txBody>
      </p:sp>
      <p:sp>
        <p:nvSpPr>
          <p:cNvPr id="164" name="User card 164"/>
          <p:cNvSpPr/>
          <p:nvPr/>
        </p:nvSpPr>
        <p:spPr>
          <a:xfrm>
            <a:off x="4459224" y="1600200"/>
            <a:ext cx="3270504" cy="3246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65" name="User initial 165"/>
          <p:cNvSpPr/>
          <p:nvPr/>
        </p:nvSpPr>
        <p:spPr>
          <a:xfrm>
            <a:off x="4733544" y="182880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166" name="User title 166"/>
          <p:cNvSpPr txBox="1"/>
          <p:nvPr/>
        </p:nvSpPr>
        <p:spPr>
          <a:xfrm>
            <a:off x="5647944" y="1828800"/>
            <a:ext cx="189890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262626"/>
                </a:solidFill>
                <a:latin typeface="Calibri"/>
                <a:cs typeface="Calibri"/>
              </a:rPr>
              <a:t>Drivers</a:t>
            </a:r>
          </a:p>
        </p:txBody>
      </p:sp>
      <p:sp>
        <p:nvSpPr>
          <p:cNvPr id="167" name="User needs 167"/>
          <p:cNvSpPr txBox="1"/>
          <p:nvPr/>
        </p:nvSpPr>
        <p:spPr>
          <a:xfrm>
            <a:off x="4733544" y="2834640"/>
            <a:ext cx="2721864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Need a simple interface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Should not be distracted while driving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Need a device that is easy to use</a:t>
            </a:r>
          </a:p>
        </p:txBody>
      </p:sp>
      <p:sp>
        <p:nvSpPr>
          <p:cNvPr id="168" name="User card 168"/>
          <p:cNvSpPr/>
          <p:nvPr/>
        </p:nvSpPr>
        <p:spPr>
          <a:xfrm>
            <a:off x="8004048" y="1600200"/>
            <a:ext cx="3270504" cy="3246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69" name="User initial 169"/>
          <p:cNvSpPr/>
          <p:nvPr/>
        </p:nvSpPr>
        <p:spPr>
          <a:xfrm>
            <a:off x="8278368" y="182880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</a:p>
        </p:txBody>
      </p:sp>
      <p:sp>
        <p:nvSpPr>
          <p:cNvPr id="170" name="User title 170"/>
          <p:cNvSpPr txBox="1"/>
          <p:nvPr/>
        </p:nvSpPr>
        <p:spPr>
          <a:xfrm>
            <a:off x="9192768" y="1828800"/>
            <a:ext cx="189890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262626"/>
                </a:solidFill>
                <a:latin typeface="Calibri"/>
                <a:cs typeface="Calibri"/>
              </a:rPr>
              <a:t>Operators</a:t>
            </a:r>
          </a:p>
        </p:txBody>
      </p:sp>
      <p:sp>
        <p:nvSpPr>
          <p:cNvPr id="171" name="User needs 171"/>
          <p:cNvSpPr txBox="1"/>
          <p:nvPr/>
        </p:nvSpPr>
        <p:spPr>
          <a:xfrm>
            <a:off x="8278368" y="2834640"/>
            <a:ext cx="2721864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Need to see active buses and delays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Need affordable maintenance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May not have dedicated IT staff</a:t>
            </a:r>
          </a:p>
        </p:txBody>
      </p:sp>
      <p:sp>
        <p:nvSpPr>
          <p:cNvPr id="172" name="Insight banner 172"/>
          <p:cNvSpPr/>
          <p:nvPr/>
        </p:nvSpPr>
        <p:spPr>
          <a:xfrm>
            <a:off x="914400" y="5074920"/>
            <a:ext cx="10360152" cy="868680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>
            <a:noFill/>
          </a:ln>
        </p:spPr>
        <p:txBody>
          <a:bodyPr wrap="square" lIns="320040" tIns="45720" rIns="3200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alibri"/>
                <a:cs typeface="Calibri"/>
              </a:rPr>
              <a:t>Insight: </a:t>
            </a: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the system must be simple, affordable and dependable, not just technically advanced.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Competitors</a:t>
            </a:r>
            <a:r>
              <a:rPr spc="-185" dirty="0"/>
              <a:t> </a:t>
            </a:r>
            <a:r>
              <a:rPr dirty="0"/>
              <a:t>/</a:t>
            </a:r>
            <a:r>
              <a:rPr spc="-170" dirty="0"/>
              <a:t> </a:t>
            </a:r>
            <a:r>
              <a:rPr spc="-50" dirty="0"/>
              <a:t>Benchmarks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86AD64-7C4C-FDB5-E9DC-E5FA9F69634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73" name="Header bar 173"/>
          <p:cNvSpPr/>
          <p:nvPr/>
        </p:nvSpPr>
        <p:spPr>
          <a:xfrm>
            <a:off x="914400" y="1600200"/>
            <a:ext cx="10360152" cy="502920"/>
          </a:xfrm>
          <a:prstGeom prst="roundRect">
            <a:avLst>
              <a:gd name="adj" fmla="val 15000"/>
            </a:avLst>
          </a:prstGeom>
          <a:solidFill>
            <a:srgbClr val="262626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74" name="Header 174"/>
          <p:cNvSpPr txBox="1"/>
          <p:nvPr/>
        </p:nvSpPr>
        <p:spPr>
          <a:xfrm>
            <a:off x="1097280" y="160020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</a:p>
        </p:txBody>
      </p:sp>
      <p:sp>
        <p:nvSpPr>
          <p:cNvPr id="175" name="Header 175"/>
          <p:cNvSpPr txBox="1"/>
          <p:nvPr/>
        </p:nvSpPr>
        <p:spPr>
          <a:xfrm>
            <a:off x="3840480" y="16002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</a:p>
        </p:txBody>
      </p:sp>
      <p:sp>
        <p:nvSpPr>
          <p:cNvPr id="176" name="Header 176"/>
          <p:cNvSpPr txBox="1"/>
          <p:nvPr/>
        </p:nvSpPr>
        <p:spPr>
          <a:xfrm>
            <a:off x="5760720" y="16002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Strength / Risk</a:t>
            </a:r>
          </a:p>
        </p:txBody>
      </p:sp>
      <p:sp>
        <p:nvSpPr>
          <p:cNvPr id="177" name="Header 177"/>
          <p:cNvSpPr txBox="1"/>
          <p:nvPr/>
        </p:nvSpPr>
        <p:spPr>
          <a:xfrm>
            <a:off x="8686800" y="1600200"/>
            <a:ext cx="24963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</a:p>
        </p:txBody>
      </p:sp>
      <p:sp>
        <p:nvSpPr>
          <p:cNvPr id="178" name="Row 178"/>
          <p:cNvSpPr/>
          <p:nvPr/>
        </p:nvSpPr>
        <p:spPr>
          <a:xfrm>
            <a:off x="914400" y="2212848"/>
            <a:ext cx="10360152" cy="758952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 w="19050">
            <a:solidFill>
              <a:srgbClr val="C00000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79" name="Cell 179"/>
          <p:cNvSpPr txBox="1"/>
          <p:nvPr/>
        </p:nvSpPr>
        <p:spPr>
          <a:xfrm>
            <a:off x="1097280" y="2212848"/>
            <a:ext cx="246888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Driver phone + GPS</a:t>
            </a:r>
          </a:p>
        </p:txBody>
      </p:sp>
      <p:sp>
        <p:nvSpPr>
          <p:cNvPr id="180" name="Cell 180"/>
          <p:cNvSpPr txBox="1"/>
          <p:nvPr/>
        </p:nvSpPr>
        <p:spPr>
          <a:xfrm>
            <a:off x="3840480" y="2212848"/>
            <a:ext cx="164592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Low cost</a:t>
            </a:r>
          </a:p>
        </p:txBody>
      </p:sp>
      <p:sp>
        <p:nvSpPr>
          <p:cNvPr id="181" name="Cell 181"/>
          <p:cNvSpPr txBox="1"/>
          <p:nvPr/>
        </p:nvSpPr>
        <p:spPr>
          <a:xfrm>
            <a:off x="5760720" y="2212848"/>
            <a:ext cx="26517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Simple pilot</a:t>
            </a:r>
          </a:p>
        </p:txBody>
      </p:sp>
      <p:sp>
        <p:nvSpPr>
          <p:cNvPr id="182" name="Cell 182"/>
          <p:cNvSpPr txBox="1"/>
          <p:nvPr/>
        </p:nvSpPr>
        <p:spPr>
          <a:xfrm>
            <a:off x="8686800" y="2212848"/>
            <a:ext cx="2496312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Selected starting concept</a:t>
            </a:r>
          </a:p>
        </p:txBody>
      </p:sp>
      <p:sp>
        <p:nvSpPr>
          <p:cNvPr id="183" name="Row 183"/>
          <p:cNvSpPr/>
          <p:nvPr/>
        </p:nvSpPr>
        <p:spPr>
          <a:xfrm>
            <a:off x="914400" y="3081528"/>
            <a:ext cx="10360152" cy="75895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84" name="Cell 184"/>
          <p:cNvSpPr txBox="1"/>
          <p:nvPr/>
        </p:nvSpPr>
        <p:spPr>
          <a:xfrm>
            <a:off x="1097280" y="3081528"/>
            <a:ext cx="246888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Dedicated SIM tracker</a:t>
            </a:r>
          </a:p>
        </p:txBody>
      </p:sp>
      <p:sp>
        <p:nvSpPr>
          <p:cNvPr id="185" name="Cell 185"/>
          <p:cNvSpPr txBox="1"/>
          <p:nvPr/>
        </p:nvSpPr>
        <p:spPr>
          <a:xfrm>
            <a:off x="3840480" y="3081528"/>
            <a:ext cx="164592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Moderate hardware cost</a:t>
            </a:r>
          </a:p>
        </p:txBody>
      </p:sp>
      <p:sp>
        <p:nvSpPr>
          <p:cNvPr id="186" name="Cell 186"/>
          <p:cNvSpPr txBox="1"/>
          <p:nvPr/>
        </p:nvSpPr>
        <p:spPr>
          <a:xfrm>
            <a:off x="5760720" y="3081528"/>
            <a:ext cx="26517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Reliable device option</a:t>
            </a:r>
          </a:p>
        </p:txBody>
      </p:sp>
      <p:sp>
        <p:nvSpPr>
          <p:cNvPr id="187" name="Cell 187"/>
          <p:cNvSpPr txBox="1"/>
          <p:nvPr/>
        </p:nvSpPr>
        <p:spPr>
          <a:xfrm>
            <a:off x="8686800" y="3081528"/>
            <a:ext cx="2496312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Possible later upgrade</a:t>
            </a:r>
          </a:p>
        </p:txBody>
      </p:sp>
      <p:sp>
        <p:nvSpPr>
          <p:cNvPr id="188" name="Row 188"/>
          <p:cNvSpPr/>
          <p:nvPr/>
        </p:nvSpPr>
        <p:spPr>
          <a:xfrm>
            <a:off x="914400" y="3950208"/>
            <a:ext cx="10360152" cy="75895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89" name="Cell 189"/>
          <p:cNvSpPr txBox="1"/>
          <p:nvPr/>
        </p:nvSpPr>
        <p:spPr>
          <a:xfrm>
            <a:off x="1097280" y="3950208"/>
            <a:ext cx="246888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Crowdsourced tracking</a:t>
            </a:r>
          </a:p>
        </p:txBody>
      </p:sp>
      <p:sp>
        <p:nvSpPr>
          <p:cNvPr id="190" name="Cell 190"/>
          <p:cNvSpPr txBox="1"/>
          <p:nvPr/>
        </p:nvSpPr>
        <p:spPr>
          <a:xfrm>
            <a:off x="3840480" y="3950208"/>
            <a:ext cx="164592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Low hardware cost</a:t>
            </a:r>
          </a:p>
        </p:txBody>
      </p:sp>
      <p:sp>
        <p:nvSpPr>
          <p:cNvPr id="191" name="Cell 191"/>
          <p:cNvSpPr txBox="1"/>
          <p:nvPr/>
        </p:nvSpPr>
        <p:spPr>
          <a:xfrm>
            <a:off x="5760720" y="3950208"/>
            <a:ext cx="26517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Depends on participation</a:t>
            </a:r>
          </a:p>
        </p:txBody>
      </p:sp>
      <p:sp>
        <p:nvSpPr>
          <p:cNvPr id="192" name="Cell 192"/>
          <p:cNvSpPr txBox="1"/>
          <p:nvPr/>
        </p:nvSpPr>
        <p:spPr>
          <a:xfrm>
            <a:off x="8686800" y="3950208"/>
            <a:ext cx="2496312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Not reliable as the only source</a:t>
            </a:r>
          </a:p>
        </p:txBody>
      </p:sp>
      <p:sp>
        <p:nvSpPr>
          <p:cNvPr id="193" name="Row 193"/>
          <p:cNvSpPr/>
          <p:nvPr/>
        </p:nvSpPr>
        <p:spPr>
          <a:xfrm>
            <a:off x="914400" y="4818888"/>
            <a:ext cx="10360152" cy="75895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94" name="Cell 194"/>
          <p:cNvSpPr txBox="1"/>
          <p:nvPr/>
        </p:nvSpPr>
        <p:spPr>
          <a:xfrm>
            <a:off x="1097280" y="4818888"/>
            <a:ext cx="246888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Full ITS deployment</a:t>
            </a:r>
          </a:p>
        </p:txBody>
      </p:sp>
      <p:sp>
        <p:nvSpPr>
          <p:cNvPr id="195" name="Cell 195"/>
          <p:cNvSpPr txBox="1"/>
          <p:nvPr/>
        </p:nvSpPr>
        <p:spPr>
          <a:xfrm>
            <a:off x="3840480" y="4818888"/>
            <a:ext cx="164592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High cost</a:t>
            </a:r>
          </a:p>
        </p:txBody>
      </p:sp>
      <p:sp>
        <p:nvSpPr>
          <p:cNvPr id="196" name="Cell 196"/>
          <p:cNvSpPr txBox="1"/>
          <p:nvPr/>
        </p:nvSpPr>
        <p:spPr>
          <a:xfrm>
            <a:off x="5760720" y="4818888"/>
            <a:ext cx="26517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Complex infrastructure</a:t>
            </a:r>
          </a:p>
        </p:txBody>
      </p:sp>
      <p:sp>
        <p:nvSpPr>
          <p:cNvPr id="197" name="Cell 197"/>
          <p:cNvSpPr txBox="1"/>
          <p:nvPr/>
        </p:nvSpPr>
        <p:spPr>
          <a:xfrm>
            <a:off x="8686800" y="4818888"/>
            <a:ext cx="2496312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Outside initial scope</a:t>
            </a:r>
          </a:p>
        </p:txBody>
      </p:sp>
      <p:sp>
        <p:nvSpPr>
          <p:cNvPr id="198" name="Criteria 198"/>
          <p:cNvSpPr txBox="1"/>
          <p:nvPr/>
        </p:nvSpPr>
        <p:spPr>
          <a:xfrm>
            <a:off x="914400" y="5742432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95959"/>
                </a:solidFill>
                <a:latin typeface="Calibri"/>
                <a:cs typeface="Calibri"/>
              </a:rPr>
              <a:t>Voting criteria: affordability  •  ease of deployment  •  maintenance  •  passenger usefulness  •  scalability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Risks</a:t>
            </a:r>
            <a:r>
              <a:rPr spc="-190" dirty="0"/>
              <a:t> </a:t>
            </a:r>
            <a:r>
              <a:rPr spc="-25" dirty="0"/>
              <a:t>and</a:t>
            </a:r>
            <a:r>
              <a:rPr spc="-204" dirty="0"/>
              <a:t> </a:t>
            </a:r>
            <a:r>
              <a:rPr spc="-25" dirty="0"/>
              <a:t>Gap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1844CD1-F59C-0792-D85E-23EBE09D9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99" name="Risk label 199"/>
          <p:cNvSpPr txBox="1"/>
          <p:nvPr/>
        </p:nvSpPr>
        <p:spPr>
          <a:xfrm>
            <a:off x="914400" y="1554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RISK</a:t>
            </a:r>
          </a:p>
        </p:txBody>
      </p:sp>
      <p:sp>
        <p:nvSpPr>
          <p:cNvPr id="200" name="Mitigation label 200"/>
          <p:cNvSpPr txBox="1"/>
          <p:nvPr/>
        </p:nvSpPr>
        <p:spPr>
          <a:xfrm>
            <a:off x="5760720" y="1554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HOW WE HANDLE IT</a:t>
            </a:r>
          </a:p>
        </p:txBody>
      </p:sp>
      <p:sp>
        <p:nvSpPr>
          <p:cNvPr id="201" name="Risk card 201"/>
          <p:cNvSpPr/>
          <p:nvPr/>
        </p:nvSpPr>
        <p:spPr>
          <a:xfrm>
            <a:off x="914400" y="1920240"/>
            <a:ext cx="4297680" cy="7315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02" name="Risk text 202"/>
          <p:cNvSpPr txBox="1"/>
          <p:nvPr/>
        </p:nvSpPr>
        <p:spPr>
          <a:xfrm>
            <a:off x="1097280" y="1920240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ETA accuracy may vary with traffic and stops</a:t>
            </a:r>
          </a:p>
        </p:txBody>
      </p:sp>
      <p:sp>
        <p:nvSpPr>
          <p:cNvPr id="203" name="Arrow 203"/>
          <p:cNvSpPr/>
          <p:nvPr/>
        </p:nvSpPr>
        <p:spPr>
          <a:xfrm>
            <a:off x="5349240" y="2148840"/>
            <a:ext cx="274320" cy="2743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04" name="Mitigation card 204"/>
          <p:cNvSpPr/>
          <p:nvPr/>
        </p:nvSpPr>
        <p:spPr>
          <a:xfrm>
            <a:off x="5760720" y="1920240"/>
            <a:ext cx="5513832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05" name="Mitigation text 205"/>
          <p:cNvSpPr txBox="1"/>
          <p:nvPr/>
        </p:nvSpPr>
        <p:spPr>
          <a:xfrm>
            <a:off x="5943600" y="1920240"/>
            <a:ext cx="5166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Match GPS to the route, add dwell time, and measure ETA error in the pilot</a:t>
            </a:r>
          </a:p>
        </p:txBody>
      </p:sp>
      <p:sp>
        <p:nvSpPr>
          <p:cNvPr id="206" name="Risk card 206"/>
          <p:cNvSpPr/>
          <p:nvPr/>
        </p:nvSpPr>
        <p:spPr>
          <a:xfrm>
            <a:off x="914400" y="2761488"/>
            <a:ext cx="4297680" cy="7315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07" name="Risk text 207"/>
          <p:cNvSpPr txBox="1"/>
          <p:nvPr/>
        </p:nvSpPr>
        <p:spPr>
          <a:xfrm>
            <a:off x="1097280" y="2761488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Network loss or limited mobile data</a:t>
            </a:r>
          </a:p>
        </p:txBody>
      </p:sp>
      <p:sp>
        <p:nvSpPr>
          <p:cNvPr id="208" name="Arrow 208"/>
          <p:cNvSpPr/>
          <p:nvPr/>
        </p:nvSpPr>
        <p:spPr>
          <a:xfrm>
            <a:off x="5349240" y="2990088"/>
            <a:ext cx="274320" cy="2743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09" name="Mitigation card 209"/>
          <p:cNvSpPr/>
          <p:nvPr/>
        </p:nvSpPr>
        <p:spPr>
          <a:xfrm>
            <a:off x="5760720" y="2761488"/>
            <a:ext cx="5513832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10" name="Mitigation text 210"/>
          <p:cNvSpPr txBox="1"/>
          <p:nvPr/>
        </p:nvSpPr>
        <p:spPr>
          <a:xfrm>
            <a:off x="5943600" y="2761488"/>
            <a:ext cx="5166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Send tiny MQTT messages and show last-seen time when data is stale</a:t>
            </a:r>
          </a:p>
        </p:txBody>
      </p:sp>
      <p:sp>
        <p:nvSpPr>
          <p:cNvPr id="211" name="Risk card 211"/>
          <p:cNvSpPr/>
          <p:nvPr/>
        </p:nvSpPr>
        <p:spPr>
          <a:xfrm>
            <a:off x="914400" y="3602736"/>
            <a:ext cx="4297680" cy="7315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12" name="Risk text 212"/>
          <p:cNvSpPr txBox="1"/>
          <p:nvPr/>
        </p:nvSpPr>
        <p:spPr>
          <a:xfrm>
            <a:off x="1097280" y="3602736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Driver distraction or low adoption</a:t>
            </a:r>
          </a:p>
        </p:txBody>
      </p:sp>
      <p:sp>
        <p:nvSpPr>
          <p:cNvPr id="213" name="Arrow 213"/>
          <p:cNvSpPr/>
          <p:nvPr/>
        </p:nvSpPr>
        <p:spPr>
          <a:xfrm>
            <a:off x="5349240" y="3831336"/>
            <a:ext cx="274320" cy="2743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14" name="Mitigation card 214"/>
          <p:cNvSpPr/>
          <p:nvPr/>
        </p:nvSpPr>
        <p:spPr>
          <a:xfrm>
            <a:off x="5760720" y="3602736"/>
            <a:ext cx="5513832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15" name="Mitigation text 215"/>
          <p:cNvSpPr txBox="1"/>
          <p:nvPr/>
        </p:nvSpPr>
        <p:spPr>
          <a:xfrm>
            <a:off x="5943600" y="3602736"/>
            <a:ext cx="5166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One-tap start; no interaction needed while driving</a:t>
            </a:r>
          </a:p>
        </p:txBody>
      </p:sp>
      <p:sp>
        <p:nvSpPr>
          <p:cNvPr id="216" name="Risk card 216"/>
          <p:cNvSpPr/>
          <p:nvPr/>
        </p:nvSpPr>
        <p:spPr>
          <a:xfrm>
            <a:off x="914400" y="4443984"/>
            <a:ext cx="4297680" cy="7315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17" name="Risk text 217"/>
          <p:cNvSpPr txBox="1"/>
          <p:nvPr/>
        </p:nvSpPr>
        <p:spPr>
          <a:xfrm>
            <a:off x="1097280" y="4443984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Crowdsourcing depends on participation</a:t>
            </a:r>
          </a:p>
        </p:txBody>
      </p:sp>
      <p:sp>
        <p:nvSpPr>
          <p:cNvPr id="218" name="Arrow 218"/>
          <p:cNvSpPr/>
          <p:nvPr/>
        </p:nvSpPr>
        <p:spPr>
          <a:xfrm>
            <a:off x="5349240" y="4672584"/>
            <a:ext cx="274320" cy="2743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19" name="Mitigation card 219"/>
          <p:cNvSpPr/>
          <p:nvPr/>
        </p:nvSpPr>
        <p:spPr>
          <a:xfrm>
            <a:off x="5760720" y="4443984"/>
            <a:ext cx="5513832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20" name="Mitigation text 220"/>
          <p:cNvSpPr txBox="1"/>
          <p:nvPr/>
        </p:nvSpPr>
        <p:spPr>
          <a:xfrm>
            <a:off x="5943600" y="4443984"/>
            <a:ext cx="5166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Use it only as a supplement, never as the sole source</a:t>
            </a:r>
          </a:p>
        </p:txBody>
      </p:sp>
      <p:sp>
        <p:nvSpPr>
          <p:cNvPr id="221" name="Gap banner 221"/>
          <p:cNvSpPr/>
          <p:nvPr/>
        </p:nvSpPr>
        <p:spPr>
          <a:xfrm>
            <a:off x="914400" y="5394960"/>
            <a:ext cx="10360152" cy="59436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320040" tIns="27432" rIns="32004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The gap: </a:t>
            </a: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no affordable, simple, open option sits between having no tracking and a full ITS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76"/>
            <a:ext cx="10134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Concept/Idea/Prototype/Product/Solution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92EDACC-CD19-7A71-8718-2D25053A38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222" name="Step card 222"/>
          <p:cNvSpPr/>
          <p:nvPr/>
        </p:nvSpPr>
        <p:spPr>
          <a:xfrm>
            <a:off x="914400" y="1600200"/>
            <a:ext cx="2281428" cy="2697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23" name="Step number 223"/>
          <p:cNvSpPr/>
          <p:nvPr/>
        </p:nvSpPr>
        <p:spPr>
          <a:xfrm>
            <a:off x="1143000" y="1810512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24" name="Step text 224"/>
          <p:cNvSpPr txBox="1"/>
          <p:nvPr/>
        </p:nvSpPr>
        <p:spPr>
          <a:xfrm>
            <a:off x="1143000" y="2606040"/>
            <a:ext cx="1869948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Capture GPS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Latitude, longitude and speed from a phone or tracker.</a:t>
            </a:r>
          </a:p>
        </p:txBody>
      </p:sp>
      <p:sp>
        <p:nvSpPr>
          <p:cNvPr id="225" name="Flow arrow 225"/>
          <p:cNvSpPr/>
          <p:nvPr/>
        </p:nvSpPr>
        <p:spPr>
          <a:xfrm>
            <a:off x="3259836" y="2743200"/>
            <a:ext cx="283464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26" name="Step card 226"/>
          <p:cNvSpPr/>
          <p:nvPr/>
        </p:nvSpPr>
        <p:spPr>
          <a:xfrm>
            <a:off x="3607308" y="1600200"/>
            <a:ext cx="2281428" cy="2697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27" name="Step number 227"/>
          <p:cNvSpPr/>
          <p:nvPr/>
        </p:nvSpPr>
        <p:spPr>
          <a:xfrm>
            <a:off x="3835908" y="1810512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28" name="Step text 228"/>
          <p:cNvSpPr txBox="1"/>
          <p:nvPr/>
        </p:nvSpPr>
        <p:spPr>
          <a:xfrm>
            <a:off x="3835908" y="2606040"/>
            <a:ext cx="1869948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Send data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MQTT sends small location messages to the server.</a:t>
            </a:r>
          </a:p>
        </p:txBody>
      </p:sp>
      <p:sp>
        <p:nvSpPr>
          <p:cNvPr id="229" name="Flow arrow 229"/>
          <p:cNvSpPr/>
          <p:nvPr/>
        </p:nvSpPr>
        <p:spPr>
          <a:xfrm>
            <a:off x="5952744" y="2743200"/>
            <a:ext cx="283464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30" name="Step card 230"/>
          <p:cNvSpPr/>
          <p:nvPr/>
        </p:nvSpPr>
        <p:spPr>
          <a:xfrm>
            <a:off x="6300216" y="1600200"/>
            <a:ext cx="2281428" cy="2697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31" name="Step number 231"/>
          <p:cNvSpPr/>
          <p:nvPr/>
        </p:nvSpPr>
        <p:spPr>
          <a:xfrm>
            <a:off x="6528816" y="1810512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32" name="Step text 232"/>
          <p:cNvSpPr txBox="1"/>
          <p:nvPr/>
        </p:nvSpPr>
        <p:spPr>
          <a:xfrm>
            <a:off x="6528816" y="2606040"/>
            <a:ext cx="1869948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Estimate arrival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Match GPS to the route; add distance and dwell time.</a:t>
            </a:r>
          </a:p>
        </p:txBody>
      </p:sp>
      <p:sp>
        <p:nvSpPr>
          <p:cNvPr id="233" name="Flow arrow 233"/>
          <p:cNvSpPr/>
          <p:nvPr/>
        </p:nvSpPr>
        <p:spPr>
          <a:xfrm>
            <a:off x="8645652" y="2743200"/>
            <a:ext cx="283464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34" name="Step card 234"/>
          <p:cNvSpPr/>
          <p:nvPr/>
        </p:nvSpPr>
        <p:spPr>
          <a:xfrm>
            <a:off x="8993124" y="1600200"/>
            <a:ext cx="2281428" cy="2697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35" name="Step number 235"/>
          <p:cNvSpPr/>
          <p:nvPr/>
        </p:nvSpPr>
        <p:spPr>
          <a:xfrm>
            <a:off x="9221724" y="1810512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36" name="Step text 236"/>
          <p:cNvSpPr txBox="1"/>
          <p:nvPr/>
        </p:nvSpPr>
        <p:spPr>
          <a:xfrm>
            <a:off x="9221724" y="2606040"/>
            <a:ext cx="1869948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Share updates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Live map, operator dashboard and GTFS-Realtime output.</a:t>
            </a:r>
          </a:p>
        </p:txBody>
      </p:sp>
      <p:sp>
        <p:nvSpPr>
          <p:cNvPr id="237" name="ETA banner 237"/>
          <p:cNvSpPr/>
          <p:nvPr/>
        </p:nvSpPr>
        <p:spPr>
          <a:xfrm>
            <a:off x="914400" y="4526280"/>
            <a:ext cx="10360152" cy="14173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320040" tIns="91440" rIns="32004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FF9E9E"/>
                </a:solidFill>
                <a:latin typeface="Calibri"/>
                <a:cs typeface="Calibri"/>
              </a:rPr>
              <a:t>PROPOSED CONCEPT  ·  RAPID ESTIMATION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ETA ≈ (remaining route distance ÷ effective speed) + expected dwell time at intermediate stops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D9D9D9"/>
                </a:solidFill>
                <a:latin typeface="Calibri"/>
                <a:cs typeface="Calibri"/>
              </a:rPr>
              <a:t>Start with a driver smartphone or low-cost GPS tracker, MQTT data transfer, a simple backend and a passenger 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Images/Storyboard/Architecture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238" name="Node 238"/>
          <p:cNvSpPr/>
          <p:nvPr/>
        </p:nvSpPr>
        <p:spPr>
          <a:xfrm>
            <a:off x="914400" y="1600200"/>
            <a:ext cx="2286000" cy="15910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39" name="Node text 239"/>
          <p:cNvSpPr txBox="1"/>
          <p:nvPr/>
        </p:nvSpPr>
        <p:spPr>
          <a:xfrm>
            <a:off x="1051560" y="1600200"/>
            <a:ext cx="2011680" cy="1591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Data source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95959"/>
                </a:solidFill>
                <a:latin typeface="Calibri"/>
                <a:cs typeface="Calibri"/>
              </a:rPr>
              <a:t>Driver phone or low-cost GPS tracker</a:t>
            </a:r>
          </a:p>
        </p:txBody>
      </p:sp>
      <p:sp>
        <p:nvSpPr>
          <p:cNvPr id="240" name="Node 240"/>
          <p:cNvSpPr/>
          <p:nvPr/>
        </p:nvSpPr>
        <p:spPr>
          <a:xfrm>
            <a:off x="3657600" y="1600200"/>
            <a:ext cx="2286000" cy="15910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41" name="Node text 241"/>
          <p:cNvSpPr txBox="1"/>
          <p:nvPr/>
        </p:nvSpPr>
        <p:spPr>
          <a:xfrm>
            <a:off x="3794760" y="1600200"/>
            <a:ext cx="2011680" cy="1591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MQTT broker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95959"/>
                </a:solidFill>
                <a:latin typeface="Calibri"/>
                <a:cs typeface="Calibri"/>
              </a:rPr>
              <a:t>Receives small location messages</a:t>
            </a:r>
          </a:p>
        </p:txBody>
      </p:sp>
      <p:sp>
        <p:nvSpPr>
          <p:cNvPr id="242" name="Node 242"/>
          <p:cNvSpPr/>
          <p:nvPr/>
        </p:nvSpPr>
        <p:spPr>
          <a:xfrm>
            <a:off x="6400800" y="1600200"/>
            <a:ext cx="2286000" cy="15910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43" name="Node text 243"/>
          <p:cNvSpPr txBox="1"/>
          <p:nvPr/>
        </p:nvSpPr>
        <p:spPr>
          <a:xfrm>
            <a:off x="6537960" y="1600200"/>
            <a:ext cx="2011680" cy="1591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Backend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95959"/>
                </a:solidFill>
                <a:latin typeface="Calibri"/>
                <a:cs typeface="Calibri"/>
              </a:rPr>
              <a:t>Route matching + ETA (PostGIS)</a:t>
            </a:r>
          </a:p>
        </p:txBody>
      </p:sp>
      <p:sp>
        <p:nvSpPr>
          <p:cNvPr id="244" name="Arrow 244"/>
          <p:cNvSpPr/>
          <p:nvPr/>
        </p:nvSpPr>
        <p:spPr>
          <a:xfrm>
            <a:off x="3246120" y="2240280"/>
            <a:ext cx="365760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45" name="Arrow 245"/>
          <p:cNvSpPr/>
          <p:nvPr/>
        </p:nvSpPr>
        <p:spPr>
          <a:xfrm>
            <a:off x="5989320" y="2240280"/>
            <a:ext cx="365760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46" name="Arrow 246"/>
          <p:cNvSpPr/>
          <p:nvPr/>
        </p:nvSpPr>
        <p:spPr>
          <a:xfrm>
            <a:off x="8732520" y="2240280"/>
            <a:ext cx="365760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47" name="Output 247"/>
          <p:cNvSpPr/>
          <p:nvPr/>
        </p:nvSpPr>
        <p:spPr>
          <a:xfrm>
            <a:off x="9144000" y="1600200"/>
            <a:ext cx="2130552" cy="457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Passenger map</a:t>
            </a:r>
          </a:p>
        </p:txBody>
      </p:sp>
      <p:sp>
        <p:nvSpPr>
          <p:cNvPr id="248" name="Output 248"/>
          <p:cNvSpPr/>
          <p:nvPr/>
        </p:nvSpPr>
        <p:spPr>
          <a:xfrm>
            <a:off x="9144000" y="2167128"/>
            <a:ext cx="2130552" cy="457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Operator dashboard</a:t>
            </a:r>
          </a:p>
        </p:txBody>
      </p:sp>
      <p:sp>
        <p:nvSpPr>
          <p:cNvPr id="249" name="Output 249"/>
          <p:cNvSpPr/>
          <p:nvPr/>
        </p:nvSpPr>
        <p:spPr>
          <a:xfrm>
            <a:off x="9144000" y="2734056"/>
            <a:ext cx="2130552" cy="457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GTFS-Realtime feed</a:t>
            </a:r>
          </a:p>
        </p:txBody>
      </p:sp>
      <p:sp>
        <p:nvSpPr>
          <p:cNvPr id="250" name="Screens label 250"/>
          <p:cNvSpPr txBox="1"/>
          <p:nvPr/>
        </p:nvSpPr>
        <p:spPr>
          <a:xfrm>
            <a:off x="914400" y="3474720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PROTOTYPE SCREENS (WIREFRAME)</a:t>
            </a:r>
          </a:p>
        </p:txBody>
      </p:sp>
      <p:sp>
        <p:nvSpPr>
          <p:cNvPr id="251" name="Screen card 251"/>
          <p:cNvSpPr/>
          <p:nvPr/>
        </p:nvSpPr>
        <p:spPr>
          <a:xfrm>
            <a:off x="914400" y="3840480"/>
            <a:ext cx="3270504" cy="14173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52" name="Screen letter 252"/>
          <p:cNvSpPr/>
          <p:nvPr/>
        </p:nvSpPr>
        <p:spPr>
          <a:xfrm>
            <a:off x="1143000" y="402336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</p:txBody>
      </p:sp>
      <p:sp>
        <p:nvSpPr>
          <p:cNvPr id="253" name="Screen title 253"/>
          <p:cNvSpPr txBox="1"/>
          <p:nvPr/>
        </p:nvSpPr>
        <p:spPr>
          <a:xfrm>
            <a:off x="1828800" y="4023360"/>
            <a:ext cx="217322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Passenger view</a:t>
            </a:r>
          </a:p>
        </p:txBody>
      </p:sp>
      <p:sp>
        <p:nvSpPr>
          <p:cNvPr id="254" name="Screen text 254"/>
          <p:cNvSpPr txBox="1"/>
          <p:nvPr/>
        </p:nvSpPr>
        <p:spPr>
          <a:xfrm>
            <a:off x="1143000" y="4617720"/>
            <a:ext cx="281330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Live map, bus marker, route and next-stop ETA.</a:t>
            </a:r>
          </a:p>
        </p:txBody>
      </p:sp>
      <p:sp>
        <p:nvSpPr>
          <p:cNvPr id="255" name="Screen card 255"/>
          <p:cNvSpPr/>
          <p:nvPr/>
        </p:nvSpPr>
        <p:spPr>
          <a:xfrm>
            <a:off x="4459224" y="3840480"/>
            <a:ext cx="3270504" cy="14173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56" name="Screen letter 256"/>
          <p:cNvSpPr/>
          <p:nvPr/>
        </p:nvSpPr>
        <p:spPr>
          <a:xfrm>
            <a:off x="4687824" y="402336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</p:txBody>
      </p:sp>
      <p:sp>
        <p:nvSpPr>
          <p:cNvPr id="257" name="Screen title 257"/>
          <p:cNvSpPr txBox="1"/>
          <p:nvPr/>
        </p:nvSpPr>
        <p:spPr>
          <a:xfrm>
            <a:off x="5373624" y="4023360"/>
            <a:ext cx="217322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Operator view</a:t>
            </a:r>
          </a:p>
        </p:txBody>
      </p:sp>
      <p:sp>
        <p:nvSpPr>
          <p:cNvPr id="258" name="Screen text 258"/>
          <p:cNvSpPr txBox="1"/>
          <p:nvPr/>
        </p:nvSpPr>
        <p:spPr>
          <a:xfrm>
            <a:off x="4687824" y="4617720"/>
            <a:ext cx="281330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List of active buses, last update time and delay alerts.</a:t>
            </a:r>
          </a:p>
        </p:txBody>
      </p:sp>
      <p:sp>
        <p:nvSpPr>
          <p:cNvPr id="259" name="Screen card 259"/>
          <p:cNvSpPr/>
          <p:nvPr/>
        </p:nvSpPr>
        <p:spPr>
          <a:xfrm>
            <a:off x="8004048" y="3840480"/>
            <a:ext cx="3270504" cy="14173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60" name="Screen letter 260"/>
          <p:cNvSpPr/>
          <p:nvPr/>
        </p:nvSpPr>
        <p:spPr>
          <a:xfrm>
            <a:off x="8232648" y="402336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261" name="Screen title 261"/>
          <p:cNvSpPr txBox="1"/>
          <p:nvPr/>
        </p:nvSpPr>
        <p:spPr>
          <a:xfrm>
            <a:off x="8918448" y="4023360"/>
            <a:ext cx="217322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62626"/>
                </a:solidFill>
                <a:latin typeface="Calibri"/>
                <a:cs typeface="Calibri"/>
              </a:rPr>
              <a:t>Prototype test</a:t>
            </a:r>
          </a:p>
        </p:txBody>
      </p:sp>
      <p:sp>
        <p:nvSpPr>
          <p:cNvPr id="262" name="Screen text 262"/>
          <p:cNvSpPr txBox="1"/>
          <p:nvPr/>
        </p:nvSpPr>
        <p:spPr>
          <a:xfrm>
            <a:off x="8232648" y="4617720"/>
            <a:ext cx="2813304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Check readability, location freshness and ease of finding a route.</a:t>
            </a:r>
          </a:p>
        </p:txBody>
      </p:sp>
      <p:sp>
        <p:nvSpPr>
          <p:cNvPr id="263" name="Mock status bar 263"/>
          <p:cNvSpPr/>
          <p:nvPr/>
        </p:nvSpPr>
        <p:spPr>
          <a:xfrm>
            <a:off x="914400" y="5440680"/>
            <a:ext cx="10360152" cy="502920"/>
          </a:xfrm>
          <a:prstGeom prst="roundRect">
            <a:avLst>
              <a:gd name="adj" fmla="val 20000"/>
            </a:avLst>
          </a:prstGeom>
          <a:solidFill>
            <a:srgbClr val="262626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9E9E"/>
                </a:solidFill>
                <a:latin typeface="Calibri"/>
                <a:cs typeface="Calibri"/>
              </a:rPr>
              <a:t>CITY BUS · LIVE TRACKING</a:t>
            </a:r>
            <a:r>
              <a:rPr lang="en-US" sz="1300" b="0" i="0" dirty="0">
                <a:solidFill>
                  <a:srgbClr val="595959"/>
                </a:solidFill>
                <a:latin typeface="Calibri"/>
                <a:cs typeface="Calibri"/>
              </a:rPr>
              <a:t>     |     </a:t>
            </a: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Route 12  ·  Next stop: Market Road  ·  ETA: --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Demo Walkthrough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264" name="Demo card 264"/>
          <p:cNvSpPr/>
          <p:nvPr/>
        </p:nvSpPr>
        <p:spPr>
          <a:xfrm>
            <a:off x="914400" y="1600200"/>
            <a:ext cx="3270504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65" name="Demo number 265"/>
          <p:cNvSpPr/>
          <p:nvPr/>
        </p:nvSpPr>
        <p:spPr>
          <a:xfrm>
            <a:off x="1143000" y="182880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66" name="Demo text 266"/>
          <p:cNvSpPr txBox="1"/>
          <p:nvPr/>
        </p:nvSpPr>
        <p:spPr>
          <a:xfrm>
            <a:off x="1143000" y="2514600"/>
            <a:ext cx="281330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Select a bus route and open the passenger map.</a:t>
            </a:r>
          </a:p>
        </p:txBody>
      </p:sp>
      <p:sp>
        <p:nvSpPr>
          <p:cNvPr id="267" name="Demo card 267"/>
          <p:cNvSpPr/>
          <p:nvPr/>
        </p:nvSpPr>
        <p:spPr>
          <a:xfrm>
            <a:off x="4459224" y="1600200"/>
            <a:ext cx="3270504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68" name="Demo number 268"/>
          <p:cNvSpPr/>
          <p:nvPr/>
        </p:nvSpPr>
        <p:spPr>
          <a:xfrm>
            <a:off x="4687824" y="182880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69" name="Demo text 269"/>
          <p:cNvSpPr txBox="1"/>
          <p:nvPr/>
        </p:nvSpPr>
        <p:spPr>
          <a:xfrm>
            <a:off x="4687824" y="2514600"/>
            <a:ext cx="281330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Show a bus location update arriving from the GPS source.</a:t>
            </a:r>
          </a:p>
        </p:txBody>
      </p:sp>
      <p:sp>
        <p:nvSpPr>
          <p:cNvPr id="270" name="Demo card 270"/>
          <p:cNvSpPr/>
          <p:nvPr/>
        </p:nvSpPr>
        <p:spPr>
          <a:xfrm>
            <a:off x="8004048" y="1600200"/>
            <a:ext cx="3270504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71" name="Demo number 271"/>
          <p:cNvSpPr/>
          <p:nvPr/>
        </p:nvSpPr>
        <p:spPr>
          <a:xfrm>
            <a:off x="8232648" y="182880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2" name="Demo text 272"/>
          <p:cNvSpPr txBox="1"/>
          <p:nvPr/>
        </p:nvSpPr>
        <p:spPr>
          <a:xfrm>
            <a:off x="8232648" y="2514600"/>
            <a:ext cx="281330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Show the bus marker moving along the digitised route.</a:t>
            </a:r>
          </a:p>
        </p:txBody>
      </p:sp>
      <p:sp>
        <p:nvSpPr>
          <p:cNvPr id="273" name="Demo card 273"/>
          <p:cNvSpPr/>
          <p:nvPr/>
        </p:nvSpPr>
        <p:spPr>
          <a:xfrm>
            <a:off x="914400" y="3657600"/>
            <a:ext cx="3270504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74" name="Demo number 274"/>
          <p:cNvSpPr/>
          <p:nvPr/>
        </p:nvSpPr>
        <p:spPr>
          <a:xfrm>
            <a:off x="1143000" y="388620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75" name="Demo text 275"/>
          <p:cNvSpPr txBox="1"/>
          <p:nvPr/>
        </p:nvSpPr>
        <p:spPr>
          <a:xfrm>
            <a:off x="1143000" y="4572000"/>
            <a:ext cx="281330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Display the next stop and ETA calculation.</a:t>
            </a:r>
          </a:p>
        </p:txBody>
      </p:sp>
      <p:sp>
        <p:nvSpPr>
          <p:cNvPr id="276" name="Demo card 276"/>
          <p:cNvSpPr/>
          <p:nvPr/>
        </p:nvSpPr>
        <p:spPr>
          <a:xfrm>
            <a:off x="4459224" y="3657600"/>
            <a:ext cx="3270504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77" name="Demo number 277"/>
          <p:cNvSpPr/>
          <p:nvPr/>
        </p:nvSpPr>
        <p:spPr>
          <a:xfrm>
            <a:off x="4687824" y="388620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78" name="Demo text 278"/>
          <p:cNvSpPr txBox="1"/>
          <p:nvPr/>
        </p:nvSpPr>
        <p:spPr>
          <a:xfrm>
            <a:off x="4687824" y="4572000"/>
            <a:ext cx="281330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Open the operator dashboard and check the bus's last-seen time.</a:t>
            </a:r>
          </a:p>
        </p:txBody>
      </p:sp>
      <p:sp>
        <p:nvSpPr>
          <p:cNvPr id="279" name="Demo card 279"/>
          <p:cNvSpPr/>
          <p:nvPr/>
        </p:nvSpPr>
        <p:spPr>
          <a:xfrm>
            <a:off x="8004048" y="3657600"/>
            <a:ext cx="3270504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80" name="Demo number 280"/>
          <p:cNvSpPr/>
          <p:nvPr/>
        </p:nvSpPr>
        <p:spPr>
          <a:xfrm>
            <a:off x="8232648" y="388620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81" name="Demo text 281"/>
          <p:cNvSpPr txBox="1"/>
          <p:nvPr/>
        </p:nvSpPr>
        <p:spPr>
          <a:xfrm>
            <a:off x="8232648" y="4572000"/>
            <a:ext cx="281330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Briefly explain what happens if network connectivity is lost.</a:t>
            </a:r>
          </a:p>
        </p:txBody>
      </p:sp>
      <p:sp>
        <p:nvSpPr>
          <p:cNvPr id="282" name="Demo caption 282"/>
          <p:cNvSpPr txBox="1"/>
          <p:nvPr/>
        </p:nvSpPr>
        <p:spPr>
          <a:xfrm>
            <a:off x="914400" y="5742432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595959"/>
                </a:solidFill>
                <a:latin typeface="Calibri"/>
                <a:cs typeface="Calibri"/>
              </a:rPr>
              <a:t>Planned demonstration, to be run on the working prototype.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60" dirty="0"/>
              <a:t>Lean Canvas</a:t>
            </a:r>
            <a:r>
              <a:rPr spc="-185" dirty="0"/>
              <a:t> </a:t>
            </a:r>
            <a:r>
              <a:rPr spc="-30" dirty="0"/>
              <a:t>Model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FB487C9-3839-22C2-01F2-1C93656AB4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283" name="Canvas block 283"/>
          <p:cNvSpPr/>
          <p:nvPr/>
        </p:nvSpPr>
        <p:spPr>
          <a:xfrm>
            <a:off x="914400" y="1554480"/>
            <a:ext cx="1998878" cy="31089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84" name="Block label 284"/>
          <p:cNvSpPr txBox="1"/>
          <p:nvPr/>
        </p:nvSpPr>
        <p:spPr>
          <a:xfrm>
            <a:off x="1024128" y="1627632"/>
            <a:ext cx="177942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</a:p>
        </p:txBody>
      </p:sp>
      <p:sp>
        <p:nvSpPr>
          <p:cNvPr id="285" name="Block text 285"/>
          <p:cNvSpPr txBox="1"/>
          <p:nvPr/>
        </p:nvSpPr>
        <p:spPr>
          <a:xfrm>
            <a:off x="1024128" y="1901952"/>
            <a:ext cx="177942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No live bus location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Uncertain journeys and unnecessary waiting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Operators lack real-time fleet visibility</a:t>
            </a:r>
          </a:p>
        </p:txBody>
      </p:sp>
      <p:sp>
        <p:nvSpPr>
          <p:cNvPr id="286" name="Canvas block 286"/>
          <p:cNvSpPr/>
          <p:nvPr/>
        </p:nvSpPr>
        <p:spPr>
          <a:xfrm>
            <a:off x="3004718" y="1554480"/>
            <a:ext cx="1998878" cy="1508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87" name="Block label 287"/>
          <p:cNvSpPr txBox="1"/>
          <p:nvPr/>
        </p:nvSpPr>
        <p:spPr>
          <a:xfrm>
            <a:off x="3114446" y="1627632"/>
            <a:ext cx="177942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SOLUTION</a:t>
            </a:r>
          </a:p>
        </p:txBody>
      </p:sp>
      <p:sp>
        <p:nvSpPr>
          <p:cNvPr id="288" name="Block text 288"/>
          <p:cNvSpPr txBox="1"/>
          <p:nvPr/>
        </p:nvSpPr>
        <p:spPr>
          <a:xfrm>
            <a:off x="3114446" y="1901952"/>
            <a:ext cx="1779422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62626"/>
                </a:solidFill>
                <a:latin typeface="Calibri"/>
                <a:cs typeface="Calibri"/>
              </a:rPr>
              <a:t>Driver phone or GPS tracker, MQTT, simple backend, passenger map</a:t>
            </a:r>
          </a:p>
        </p:txBody>
      </p:sp>
      <p:sp>
        <p:nvSpPr>
          <p:cNvPr id="289" name="Canvas block 289"/>
          <p:cNvSpPr/>
          <p:nvPr/>
        </p:nvSpPr>
        <p:spPr>
          <a:xfrm>
            <a:off x="3004718" y="3154680"/>
            <a:ext cx="1998878" cy="1508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90" name="Block label 290"/>
          <p:cNvSpPr txBox="1"/>
          <p:nvPr/>
        </p:nvSpPr>
        <p:spPr>
          <a:xfrm>
            <a:off x="3114446" y="3227832"/>
            <a:ext cx="177942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KEY METRICS</a:t>
            </a:r>
          </a:p>
        </p:txBody>
      </p:sp>
      <p:sp>
        <p:nvSpPr>
          <p:cNvPr id="291" name="Block text 291"/>
          <p:cNvSpPr txBox="1"/>
          <p:nvPr/>
        </p:nvSpPr>
        <p:spPr>
          <a:xfrm>
            <a:off x="3114446" y="3502152"/>
            <a:ext cx="1779422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62626"/>
                </a:solidFill>
                <a:latin typeface="Calibri"/>
                <a:cs typeface="Calibri"/>
              </a:rPr>
              <a:t>ETA error, update latency, active buses tracked, passenger usage</a:t>
            </a:r>
          </a:p>
        </p:txBody>
      </p:sp>
      <p:sp>
        <p:nvSpPr>
          <p:cNvPr id="292" name="UVP block 292"/>
          <p:cNvSpPr/>
          <p:nvPr/>
        </p:nvSpPr>
        <p:spPr>
          <a:xfrm>
            <a:off x="5095037" y="1554480"/>
            <a:ext cx="1998878" cy="3108960"/>
          </a:xfrm>
          <a:prstGeom prst="roundRect">
            <a:avLst>
              <a:gd name="adj" fmla="val 5000"/>
            </a:avLst>
          </a:prstGeom>
          <a:solidFill>
            <a:srgbClr val="FBE9E9"/>
          </a:solidFill>
          <a:ln w="12700">
            <a:solidFill>
              <a:srgbClr val="C00000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93" name="Block label 293"/>
          <p:cNvSpPr txBox="1"/>
          <p:nvPr/>
        </p:nvSpPr>
        <p:spPr>
          <a:xfrm>
            <a:off x="5204765" y="1627632"/>
            <a:ext cx="177942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VALUE PROPOSITION</a:t>
            </a:r>
          </a:p>
        </p:txBody>
      </p:sp>
      <p:sp>
        <p:nvSpPr>
          <p:cNvPr id="294" name="Block text 294"/>
          <p:cNvSpPr txBox="1"/>
          <p:nvPr/>
        </p:nvSpPr>
        <p:spPr>
          <a:xfrm>
            <a:off x="5204765" y="1901952"/>
            <a:ext cx="177942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Live bus location and arrival estimates at low cost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No per-vehicle licences. No complex infrastructure.</a:t>
            </a:r>
          </a:p>
        </p:txBody>
      </p:sp>
      <p:sp>
        <p:nvSpPr>
          <p:cNvPr id="295" name="Canvas block 295"/>
          <p:cNvSpPr/>
          <p:nvPr/>
        </p:nvSpPr>
        <p:spPr>
          <a:xfrm>
            <a:off x="7185355" y="1554480"/>
            <a:ext cx="1998878" cy="1508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96" name="Block label 296"/>
          <p:cNvSpPr txBox="1"/>
          <p:nvPr/>
        </p:nvSpPr>
        <p:spPr>
          <a:xfrm>
            <a:off x="7295083" y="1627632"/>
            <a:ext cx="177942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UNFAIR ADVANTAGE</a:t>
            </a:r>
          </a:p>
        </p:txBody>
      </p:sp>
      <p:sp>
        <p:nvSpPr>
          <p:cNvPr id="297" name="Block text 297"/>
          <p:cNvSpPr txBox="1"/>
          <p:nvPr/>
        </p:nvSpPr>
        <p:spPr>
          <a:xfrm>
            <a:off x="7295083" y="1901952"/>
            <a:ext cx="1779422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62626"/>
                </a:solidFill>
                <a:latin typeface="Calibri"/>
                <a:cs typeface="Calibri"/>
              </a:rPr>
              <a:t>Open standards (GTFS-Realtime) and an open-source stack keep cost low</a:t>
            </a:r>
          </a:p>
        </p:txBody>
      </p:sp>
      <p:sp>
        <p:nvSpPr>
          <p:cNvPr id="298" name="Canvas block 298"/>
          <p:cNvSpPr/>
          <p:nvPr/>
        </p:nvSpPr>
        <p:spPr>
          <a:xfrm>
            <a:off x="7185355" y="3154680"/>
            <a:ext cx="1998878" cy="1508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99" name="Block label 299"/>
          <p:cNvSpPr txBox="1"/>
          <p:nvPr/>
        </p:nvSpPr>
        <p:spPr>
          <a:xfrm>
            <a:off x="7295083" y="3227832"/>
            <a:ext cx="177942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CHANNELS</a:t>
            </a:r>
          </a:p>
        </p:txBody>
      </p:sp>
      <p:sp>
        <p:nvSpPr>
          <p:cNvPr id="300" name="Block text 300"/>
          <p:cNvSpPr txBox="1"/>
          <p:nvPr/>
        </p:nvSpPr>
        <p:spPr>
          <a:xfrm>
            <a:off x="7295083" y="3502152"/>
            <a:ext cx="1779422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62626"/>
                </a:solidFill>
                <a:latin typeface="Calibri"/>
                <a:cs typeface="Calibri"/>
              </a:rPr>
              <a:t>Bus operators, transport authorities, pilot routes, QR codes at stops</a:t>
            </a:r>
          </a:p>
        </p:txBody>
      </p:sp>
      <p:sp>
        <p:nvSpPr>
          <p:cNvPr id="301" name="Canvas block 301"/>
          <p:cNvSpPr/>
          <p:nvPr/>
        </p:nvSpPr>
        <p:spPr>
          <a:xfrm>
            <a:off x="9275674" y="1554480"/>
            <a:ext cx="1998878" cy="31089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02" name="Block label 302"/>
          <p:cNvSpPr txBox="1"/>
          <p:nvPr/>
        </p:nvSpPr>
        <p:spPr>
          <a:xfrm>
            <a:off x="9385402" y="1627632"/>
            <a:ext cx="177942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CUSTOMER SEGMENTS</a:t>
            </a:r>
          </a:p>
        </p:txBody>
      </p:sp>
      <p:sp>
        <p:nvSpPr>
          <p:cNvPr id="303" name="Block text 303"/>
          <p:cNvSpPr txBox="1"/>
          <p:nvPr/>
        </p:nvSpPr>
        <p:spPr>
          <a:xfrm>
            <a:off x="9385402" y="1901952"/>
            <a:ext cx="177942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Passengers in small cities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Bus drivers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Bus operators and municipal transport bodies</a:t>
            </a:r>
          </a:p>
        </p:txBody>
      </p:sp>
      <p:sp>
        <p:nvSpPr>
          <p:cNvPr id="304" name="Canvas block 304"/>
          <p:cNvSpPr/>
          <p:nvPr/>
        </p:nvSpPr>
        <p:spPr>
          <a:xfrm>
            <a:off x="914400" y="4754880"/>
            <a:ext cx="6179515" cy="11887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05" name="Block label 305"/>
          <p:cNvSpPr txBox="1"/>
          <p:nvPr/>
        </p:nvSpPr>
        <p:spPr>
          <a:xfrm>
            <a:off x="1024128" y="4828032"/>
            <a:ext cx="596005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COST STRUCTURE</a:t>
            </a:r>
          </a:p>
        </p:txBody>
      </p:sp>
      <p:sp>
        <p:nvSpPr>
          <p:cNvPr id="306" name="Block text 306"/>
          <p:cNvSpPr txBox="1"/>
          <p:nvPr/>
        </p:nvSpPr>
        <p:spPr>
          <a:xfrm>
            <a:off x="1024128" y="5102352"/>
            <a:ext cx="5960059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Cloud hosting and data  •  GPS trackers (optional)  •  Maintenance and support  •  Route digitisation</a:t>
            </a:r>
          </a:p>
        </p:txBody>
      </p:sp>
      <p:sp>
        <p:nvSpPr>
          <p:cNvPr id="307" name="Canvas block 307"/>
          <p:cNvSpPr/>
          <p:nvPr/>
        </p:nvSpPr>
        <p:spPr>
          <a:xfrm>
            <a:off x="7185355" y="4754880"/>
            <a:ext cx="4089197" cy="11887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08" name="Block label 308"/>
          <p:cNvSpPr txBox="1"/>
          <p:nvPr/>
        </p:nvSpPr>
        <p:spPr>
          <a:xfrm>
            <a:off x="7295083" y="4828032"/>
            <a:ext cx="386974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REVENUE STREAMS</a:t>
            </a:r>
          </a:p>
        </p:txBody>
      </p:sp>
      <p:sp>
        <p:nvSpPr>
          <p:cNvPr id="309" name="Block text 309"/>
          <p:cNvSpPr txBox="1"/>
          <p:nvPr/>
        </p:nvSpPr>
        <p:spPr>
          <a:xfrm>
            <a:off x="7295083" y="5102352"/>
            <a:ext cx="386974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62626"/>
                </a:solidFill>
                <a:latin typeface="Calibri"/>
                <a:cs typeface="Calibri"/>
              </a:rPr>
              <a:t>Operator subscription  •  Municipal contracts  •  Setup and support fees (to validate in pilot)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Capital</a:t>
            </a:r>
            <a:r>
              <a:rPr lang="en-US" spc="-65" dirty="0"/>
              <a:t> (Financial)</a:t>
            </a:r>
            <a:endParaRPr spc="-6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248BDDA-C048-8531-B229-A919C2BFD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310" name="Capital card 310"/>
          <p:cNvSpPr/>
          <p:nvPr/>
        </p:nvSpPr>
        <p:spPr>
          <a:xfrm>
            <a:off x="914400" y="1600200"/>
            <a:ext cx="3270504" cy="2834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11" name="Capital label 311"/>
          <p:cNvSpPr txBox="1"/>
          <p:nvPr/>
        </p:nvSpPr>
        <p:spPr>
          <a:xfrm>
            <a:off x="1188720" y="1810512"/>
            <a:ext cx="27218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ONE-TIME SETUP</a:t>
            </a:r>
          </a:p>
        </p:txBody>
      </p:sp>
      <p:sp>
        <p:nvSpPr>
          <p:cNvPr id="312" name="Capital bullets 312"/>
          <p:cNvSpPr txBox="1"/>
          <p:nvPr/>
        </p:nvSpPr>
        <p:spPr>
          <a:xfrm>
            <a:off x="1188720" y="2331720"/>
            <a:ext cx="2721864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Smartphone or GPS tracker per pilot bus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Route digitisation (stops and route geometry)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Initial backend and dashboard build</a:t>
            </a:r>
          </a:p>
        </p:txBody>
      </p:sp>
      <p:sp>
        <p:nvSpPr>
          <p:cNvPr id="313" name="Capital card 313"/>
          <p:cNvSpPr/>
          <p:nvPr/>
        </p:nvSpPr>
        <p:spPr>
          <a:xfrm>
            <a:off x="4459224" y="1600200"/>
            <a:ext cx="3270504" cy="2834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14" name="Capital label 314"/>
          <p:cNvSpPr txBox="1"/>
          <p:nvPr/>
        </p:nvSpPr>
        <p:spPr>
          <a:xfrm>
            <a:off x="4733544" y="1810512"/>
            <a:ext cx="27218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RECURRING COST</a:t>
            </a:r>
          </a:p>
        </p:txBody>
      </p:sp>
      <p:sp>
        <p:nvSpPr>
          <p:cNvPr id="315" name="Capital bullets 315"/>
          <p:cNvSpPr txBox="1"/>
          <p:nvPr/>
        </p:nvSpPr>
        <p:spPr>
          <a:xfrm>
            <a:off x="4733544" y="2331720"/>
            <a:ext cx="2721864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Cloud server and mobile data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Maintenance and support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Tracker replacement, if trackers are used</a:t>
            </a:r>
          </a:p>
        </p:txBody>
      </p:sp>
      <p:sp>
        <p:nvSpPr>
          <p:cNvPr id="316" name="Capital card 316"/>
          <p:cNvSpPr/>
          <p:nvPr/>
        </p:nvSpPr>
        <p:spPr>
          <a:xfrm>
            <a:off x="8004048" y="1600200"/>
            <a:ext cx="3270504" cy="2834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17" name="Capital label 317"/>
          <p:cNvSpPr txBox="1"/>
          <p:nvPr/>
        </p:nvSpPr>
        <p:spPr>
          <a:xfrm>
            <a:off x="8278368" y="1810512"/>
            <a:ext cx="27218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latin typeface="Calibri"/>
                <a:cs typeface="Calibri"/>
              </a:rPr>
              <a:t>REVENUE MODEL</a:t>
            </a:r>
          </a:p>
        </p:txBody>
      </p:sp>
      <p:sp>
        <p:nvSpPr>
          <p:cNvPr id="318" name="Capital bullets 318"/>
          <p:cNvSpPr txBox="1"/>
          <p:nvPr/>
        </p:nvSpPr>
        <p:spPr>
          <a:xfrm>
            <a:off x="8278368" y="2331720"/>
            <a:ext cx="2721864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Operator subscription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Municipal and government contracts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Setup and support fees</a:t>
            </a:r>
          </a:p>
        </p:txBody>
      </p:sp>
      <p:sp>
        <p:nvSpPr>
          <p:cNvPr id="319" name="Callout bg 319"/>
          <p:cNvSpPr/>
          <p:nvPr/>
        </p:nvSpPr>
        <p:spPr>
          <a:xfrm>
            <a:off x="914400" y="4663440"/>
            <a:ext cx="10360152" cy="12801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20" name="Callout number 320"/>
          <p:cNvSpPr txBox="1"/>
          <p:nvPr/>
        </p:nvSpPr>
        <p:spPr>
          <a:xfrm>
            <a:off x="1234440" y="466344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dirty="0">
                <a:solidFill>
                  <a:srgbClr val="FF9E9E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321" name="Callout text 321"/>
          <p:cNvSpPr txBox="1"/>
          <p:nvPr/>
        </p:nvSpPr>
        <p:spPr>
          <a:xfrm>
            <a:off x="2743200" y="4663440"/>
            <a:ext cx="821131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per-vehicle licence fees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D9D9D9"/>
                </a:solidFill>
                <a:latin typeface="Calibri"/>
                <a:cs typeface="Calibri"/>
              </a:rPr>
              <a:t>An open-source stack (PostGIS, Leaflet, OpenStreetMap, MQTT) keeps recurring cost low. Exact figures will be finalised from pilot quotes.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Roadmap/Timeline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322" name="Timeline line 322"/>
          <p:cNvSpPr/>
          <p:nvPr/>
        </p:nvSpPr>
        <p:spPr>
          <a:xfrm>
            <a:off x="2106549" y="1828800"/>
            <a:ext cx="7975854" cy="457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23" name="Phase number 323"/>
          <p:cNvSpPr/>
          <p:nvPr/>
        </p:nvSpPr>
        <p:spPr>
          <a:xfrm>
            <a:off x="1832229" y="158191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324" name="Phase card 324"/>
          <p:cNvSpPr/>
          <p:nvPr/>
        </p:nvSpPr>
        <p:spPr>
          <a:xfrm>
            <a:off x="914400" y="2331720"/>
            <a:ext cx="2384298" cy="2103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25" name="Phase text 325"/>
          <p:cNvSpPr txBox="1"/>
          <p:nvPr/>
        </p:nvSpPr>
        <p:spPr>
          <a:xfrm>
            <a:off x="1097280" y="2468880"/>
            <a:ext cx="2018538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PHASE 1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Validate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Digitise one route and test GPS updates.</a:t>
            </a:r>
          </a:p>
        </p:txBody>
      </p:sp>
      <p:sp>
        <p:nvSpPr>
          <p:cNvPr id="326" name="Phase number 326"/>
          <p:cNvSpPr/>
          <p:nvPr/>
        </p:nvSpPr>
        <p:spPr>
          <a:xfrm>
            <a:off x="4490847" y="158191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27" name="Phase card 327"/>
          <p:cNvSpPr/>
          <p:nvPr/>
        </p:nvSpPr>
        <p:spPr>
          <a:xfrm>
            <a:off x="3573018" y="2331720"/>
            <a:ext cx="2384298" cy="2103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28" name="Phase text 328"/>
          <p:cNvSpPr txBox="1"/>
          <p:nvPr/>
        </p:nvSpPr>
        <p:spPr>
          <a:xfrm>
            <a:off x="3755898" y="2468880"/>
            <a:ext cx="2018538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PHASE 2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Measure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Record ETA error and update latency.</a:t>
            </a:r>
          </a:p>
        </p:txBody>
      </p:sp>
      <p:sp>
        <p:nvSpPr>
          <p:cNvPr id="329" name="Phase number 329"/>
          <p:cNvSpPr/>
          <p:nvPr/>
        </p:nvSpPr>
        <p:spPr>
          <a:xfrm>
            <a:off x="7149465" y="158191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30" name="Phase card 330"/>
          <p:cNvSpPr/>
          <p:nvPr/>
        </p:nvSpPr>
        <p:spPr>
          <a:xfrm>
            <a:off x="6231636" y="2331720"/>
            <a:ext cx="2384298" cy="2103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31" name="Phase text 331"/>
          <p:cNvSpPr txBox="1"/>
          <p:nvPr/>
        </p:nvSpPr>
        <p:spPr>
          <a:xfrm>
            <a:off x="6414516" y="2468880"/>
            <a:ext cx="2018538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PHASE 3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Improve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Refine the interface and test with users.</a:t>
            </a:r>
          </a:p>
        </p:txBody>
      </p:sp>
      <p:sp>
        <p:nvSpPr>
          <p:cNvPr id="332" name="Phase number 332"/>
          <p:cNvSpPr/>
          <p:nvPr/>
        </p:nvSpPr>
        <p:spPr>
          <a:xfrm>
            <a:off x="9808083" y="158191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33" name="Phase card 333"/>
          <p:cNvSpPr/>
          <p:nvPr/>
        </p:nvSpPr>
        <p:spPr>
          <a:xfrm>
            <a:off x="8890254" y="2331720"/>
            <a:ext cx="2384298" cy="2103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334" name="Phase text 334"/>
          <p:cNvSpPr txBox="1"/>
          <p:nvPr/>
        </p:nvSpPr>
        <p:spPr>
          <a:xfrm>
            <a:off x="9073134" y="2468880"/>
            <a:ext cx="2018538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  <a:cs typeface="Calibri"/>
              </a:rPr>
              <a:t>PHASE 4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Calibri"/>
                <a:cs typeface="Calibri"/>
              </a:rPr>
              <a:t>Scale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Add routes, evaluate SIM trackers and publish a GTFS-Realtime feed.</a:t>
            </a:r>
          </a:p>
        </p:txBody>
      </p:sp>
      <p:sp>
        <p:nvSpPr>
          <p:cNvPr id="335" name="Goal banner 335"/>
          <p:cNvSpPr/>
          <p:nvPr/>
        </p:nvSpPr>
        <p:spPr>
          <a:xfrm>
            <a:off x="914400" y="4663440"/>
            <a:ext cx="10360152" cy="868680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>
            <a:noFill/>
          </a:ln>
        </p:spPr>
        <p:txBody>
          <a:bodyPr wrap="square" lIns="320040" tIns="45720" rIns="3200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The goal is not to build a complex transport platform. It is to make existing buses easier to find and use through an affordable information layer.</a:t>
            </a:r>
          </a:p>
        </p:txBody>
      </p:sp>
      <p:sp>
        <p:nvSpPr>
          <p:cNvPr id="336" name="References 336"/>
          <p:cNvSpPr txBox="1"/>
          <p:nvPr/>
        </p:nvSpPr>
        <p:spPr>
          <a:xfrm>
            <a:off x="914400" y="566928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References to verify: GTFS / GTFS-Realtime, MQTT (OASIS), PostGIS, Leaflet and OpenStreetMap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1321</Words>
  <Application>Microsoft Office PowerPoint</Application>
  <PresentationFormat>Widescreen</PresentationFormat>
  <Paragraphs>240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Carlito</vt:lpstr>
      <vt:lpstr>Trebuchet MS</vt:lpstr>
      <vt:lpstr>Office Theme</vt:lpstr>
      <vt:lpstr>PowerPoint Presentation</vt:lpstr>
      <vt:lpstr>Real-Time Public Transport Tracking for Small Cities</vt:lpstr>
      <vt:lpstr>Team Members</vt:lpstr>
      <vt:lpstr>PowerPoint Presentation</vt:lpstr>
      <vt:lpstr>Vision and Mission</vt:lpstr>
      <vt:lpstr>Problem Statement</vt:lpstr>
      <vt:lpstr>Research / Facts / Market &amp; Industry Study</vt:lpstr>
      <vt:lpstr>Target User - Customer</vt:lpstr>
      <vt:lpstr>Competitors / Benchmarks</vt:lpstr>
      <vt:lpstr>Risks and Gap</vt:lpstr>
      <vt:lpstr>Concept/Idea/Prototype/Product/Solution</vt:lpstr>
      <vt:lpstr>Images/Storyboard/Architecture</vt:lpstr>
      <vt:lpstr>Demo Walkthrough</vt:lpstr>
      <vt:lpstr>Lean Canvas Model</vt:lpstr>
      <vt:lpstr>Capital (Financial)</vt:lpstr>
      <vt:lpstr>Roadmap/Timeline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G. Suresh Kumar</dc:creator>
  <cp:lastModifiedBy>Keerthi Nadendla</cp:lastModifiedBy>
  <cp:revision>9</cp:revision>
  <dcterms:created xsi:type="dcterms:W3CDTF">2024-11-15T04:43:19Z</dcterms:created>
  <dcterms:modified xsi:type="dcterms:W3CDTF">2026-10-16T07:02:16Z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